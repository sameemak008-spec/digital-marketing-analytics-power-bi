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7" r:id="rId3"/>
  </p:sldMasterIdLst>
  <p:notesMasterIdLst>
    <p:notesMasterId r:id="rId15"/>
  </p:notesMasterIdLst>
  <p:sldIdLst>
    <p:sldId id="256" r:id="rId4"/>
    <p:sldId id="347" r:id="rId5"/>
    <p:sldId id="351" r:id="rId6"/>
    <p:sldId id="348" r:id="rId7"/>
    <p:sldId id="352" r:id="rId8"/>
    <p:sldId id="349" r:id="rId9"/>
    <p:sldId id="353" r:id="rId10"/>
    <p:sldId id="350" r:id="rId11"/>
    <p:sldId id="354" r:id="rId12"/>
    <p:sldId id="356" r:id="rId13"/>
    <p:sldId id="280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BFBFBF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7" autoAdjust="0"/>
  </p:normalViewPr>
  <p:slideViewPr>
    <p:cSldViewPr snapToGrid="0">
      <p:cViewPr varScale="1">
        <p:scale>
          <a:sx n="84" d="100"/>
          <a:sy n="84" d="100"/>
        </p:scale>
        <p:origin x="5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2770" y="1431824"/>
            <a:ext cx="6872756" cy="3865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5830" y="5512523"/>
            <a:ext cx="5886637" cy="451024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.png"/><Relationship Id="rId2" Type="http://schemas.openxmlformats.org/officeDocument/2006/relationships/tags" Target="../tags/tag16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image" Target="../media/image3.png"/><Relationship Id="rId5" Type="http://schemas.openxmlformats.org/officeDocument/2006/relationships/tags" Target="../tags/tag140.xml"/><Relationship Id="rId4" Type="http://schemas.openxmlformats.org/officeDocument/2006/relationships/image" Target="../media/image2.png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image" Target="../media/image5.png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image" Target="../media/image4.png"/><Relationship Id="rId2" Type="http://schemas.openxmlformats.org/officeDocument/2006/relationships/tags" Target="../tags/tag152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64.xml"/><Relationship Id="rId7" Type="http://schemas.openxmlformats.org/officeDocument/2006/relationships/image" Target="../media/image9.png"/><Relationship Id="rId6" Type="http://schemas.openxmlformats.org/officeDocument/2006/relationships/tags" Target="../tags/tag163.xml"/><Relationship Id="rId5" Type="http://schemas.microsoft.com/office/2007/relationships/hdphoto" Target="../media/image8.wdp"/><Relationship Id="rId4" Type="http://schemas.openxmlformats.org/officeDocument/2006/relationships/image" Target="../media/image7.png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image" Target="../media/image3.png"/><Relationship Id="rId5" Type="http://schemas.openxmlformats.org/officeDocument/2006/relationships/tags" Target="../tags/tag201.xml"/><Relationship Id="rId4" Type="http://schemas.openxmlformats.org/officeDocument/2006/relationships/image" Target="../media/image2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240038" y="1386555"/>
            <a:ext cx="6978649" cy="1277606"/>
          </a:xfrm>
        </p:spPr>
        <p:txBody>
          <a:bodyPr lIns="36000" tIns="46800" rIns="90000" bIns="46800" anchor="b" anchorCtr="0">
            <a:normAutofit/>
          </a:bodyPr>
          <a:lstStyle>
            <a:lvl1pPr algn="l">
              <a:defRPr sz="60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240038" y="2877671"/>
            <a:ext cx="6978649" cy="426720"/>
          </a:xfrm>
        </p:spPr>
        <p:txBody>
          <a:bodyPr lIns="90000" tIns="4680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>
            <p:custDataLst>
              <p:tags r:id="rId9"/>
            </p:custDataLst>
          </p:nvPr>
        </p:nvCxnSpPr>
        <p:spPr>
          <a:xfrm flipV="1">
            <a:off x="1346082" y="2725727"/>
            <a:ext cx="4248000" cy="31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1240082" y="3392450"/>
            <a:ext cx="1620514" cy="395287"/>
          </a:xfrm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汇报人姓名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 hasCustomPrompt="1"/>
            <p:custDataLst>
              <p:tags r:id="rId11"/>
            </p:custDataLst>
          </p:nvPr>
        </p:nvSpPr>
        <p:spPr>
          <a:xfrm>
            <a:off x="2904986" y="3390888"/>
            <a:ext cx="1620000" cy="396000"/>
          </a:xfrm>
        </p:spPr>
        <p:txBody>
          <a:bodyPr lIns="90000" tIns="46800" rIns="90000" bIns="46800" anchor="ctr" anchorCtr="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汇报日期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3373120" y="2503805"/>
            <a:ext cx="8654415" cy="1891665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3194367" y="2503805"/>
            <a:ext cx="9011920" cy="2143760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6767868" y="2829264"/>
            <a:ext cx="5130000" cy="696239"/>
          </a:xfrm>
        </p:spPr>
        <p:txBody>
          <a:bodyPr lIns="90000" tIns="46800" rIns="90000" bIns="46800" anchor="t" anchorCtr="0">
            <a:normAutofit/>
          </a:bodyPr>
          <a:lstStyle>
            <a:lvl1pPr>
              <a:defRPr sz="3600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767863" y="3559142"/>
            <a:ext cx="5130000" cy="5940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4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2" grpId="1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" r="62187"/>
          <a:stretch>
            <a:fillRect/>
          </a:stretch>
        </p:blipFill>
        <p:spPr>
          <a:xfrm>
            <a:off x="0" y="0"/>
            <a:ext cx="46101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724400" y="443230"/>
            <a:ext cx="6797719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4" name="矩形 13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4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5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952508"/>
            <a:ext cx="950984" cy="5388907"/>
          </a:xfrm>
          <a:noFill/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952500"/>
            <a:ext cx="9828101" cy="5388907"/>
          </a:xfrm>
          <a:noFill/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 userDrawn="1">
            <p:custDataLst>
              <p:tags r:id="rId2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21" name="矩形 20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: 形状 21"/>
            <p:cNvSpPr/>
            <p:nvPr userDrawn="1">
              <p:custDataLst>
                <p:tags r:id="rId4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5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583403" y="2237173"/>
            <a:ext cx="7025196" cy="1250275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谢谢观赏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2583430" y="3487738"/>
            <a:ext cx="7025140" cy="62262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r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4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24" name="任意多边形: 形状 23"/>
            <p:cNvSpPr/>
            <p:nvPr userDrawn="1">
              <p:custDataLst>
                <p:tags r:id="rId5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blurRad="330200" dist="241300" dir="8100000" algn="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/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/>
          <p:cNvSpPr/>
          <p:nvPr userDrawn="1">
            <p:custDataLst>
              <p:tags r:id="rId2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/do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 userDrawn="1">
            <p:custDataLst>
              <p:tags r:id="rId2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wn/u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3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/>
          <p:cNvSpPr/>
          <p:nvPr userDrawn="1">
            <p:custDataLst>
              <p:tags r:id="rId2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istba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平行四边形 18"/>
          <p:cNvSpPr/>
          <p:nvPr userDrawn="1">
            <p:custDataLst>
              <p:tags r:id="rId2"/>
            </p:custDataLst>
          </p:nvPr>
        </p:nvSpPr>
        <p:spPr>
          <a:xfrm>
            <a:off x="2458244" y="0"/>
            <a:ext cx="7275513" cy="6858000"/>
          </a:xfrm>
          <a:prstGeom prst="parallelogram">
            <a:avLst>
              <a:gd name="adj" fmla="val 56845"/>
            </a:avLst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blurRad="330200" dist="241300" dir="8100000" algn="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33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2" Type="http://schemas.openxmlformats.org/officeDocument/2006/relationships/theme" Target="../theme/theme2.xml"/><Relationship Id="rId21" Type="http://schemas.openxmlformats.org/officeDocument/2006/relationships/tags" Target="../tags/tag215.xml"/><Relationship Id="rId20" Type="http://schemas.openxmlformats.org/officeDocument/2006/relationships/tags" Target="../tags/tag214.xml"/><Relationship Id="rId2" Type="http://schemas.openxmlformats.org/officeDocument/2006/relationships/slideLayout" Target="../slideLayouts/slideLayout20.xml"/><Relationship Id="rId19" Type="http://schemas.openxmlformats.org/officeDocument/2006/relationships/tags" Target="../tags/tag213.xml"/><Relationship Id="rId18" Type="http://schemas.openxmlformats.org/officeDocument/2006/relationships/tags" Target="../tags/tag212.xml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image" Target="../media/image10.png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20.xml"/><Relationship Id="rId3" Type="http://schemas.openxmlformats.org/officeDocument/2006/relationships/image" Target="../media/image11.png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25.xml"/><Relationship Id="rId3" Type="http://schemas.openxmlformats.org/officeDocument/2006/relationships/image" Target="../media/image12.png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30.xml"/><Relationship Id="rId3" Type="http://schemas.openxmlformats.org/officeDocument/2006/relationships/image" Target="../media/image13.png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35.xml"/><Relationship Id="rId3" Type="http://schemas.openxmlformats.org/officeDocument/2006/relationships/image" Target="../media/image14.png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40038" y="2877671"/>
            <a:ext cx="6978649" cy="4267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vert="horz" wrap="square" lIns="90000" tIns="46800" rIns="90000" bIns="4680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altLang="zh-CN" sz="2400" b="0" i="0" u="none" strike="noStrike" kern="1200" cap="none" spc="200" normalizeH="0" baseline="0" noProof="1" dirty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+mn-lt"/>
                <a:ea typeface="+mn-ea"/>
                <a:cs typeface="+mn-cs"/>
              </a:defRPr>
            </a:lvl1pPr>
            <a:lvl2pPr marL="457200" lvl="1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b="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14400" lvl="2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b="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371600" lvl="3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828800" lvl="4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b="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endParaRPr lang="en-GB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977265" y="1894840"/>
            <a:ext cx="10617835" cy="1888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400" b="1">
                <a:latin typeface="Arial" panose="020B0604020202020204" pitchFamily="34" charset="0"/>
                <a:cs typeface="Arial" panose="020B0604020202020204" pitchFamily="34" charset="0"/>
              </a:rPr>
              <a:t>Data-Driven Insights for Digital Marketing Campaigns</a:t>
            </a:r>
            <a:endParaRPr lang="en-US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advClick="0" advTm="0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Executive Dashboard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7035" y="1165225"/>
            <a:ext cx="11339830" cy="5550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05410" y="81915"/>
            <a:ext cx="11390630" cy="60934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KPI Overview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Total Users: 149K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Total Revenue: 23.19K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Total Sessions: 224.8K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Average Session Duration: ~3 Minutes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Highest Revenue Audience: All Users &amp; Purchasers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Most revenue is generated by All Users and Purchasers.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Non-purchasers form the largest audience but contribute no revenue.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Recently Active Users show strong engagement and conversion potential.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Added to Cart but No Purchase users indicate cart abandonment opportunities.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Targeting high-engagement audiences with personalized campaigns can increase conversions and revenue.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Demographic Analysis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16610" y="1080135"/>
            <a:ext cx="10259060" cy="58000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15265" y="241935"/>
            <a:ext cx="11280775" cy="62909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KPI Overview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Top Age Group: Unknown, followed by 18–24 years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Gender Distribution: 58% Unknown, 22% Male, 20% Female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Highest Revenue Country: Indonesia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Second Highest Revenue: United States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Top User Interests: Technology, Banking &amp; Finance, Media &amp; Entertainment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altLang="en-US" sz="1500" b="1"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r>
              <a:rPr lang="en-US" altLang="en-US" sz="1500" b="1">
                <a:latin typeface="Arial" panose="020B0604020202020204" pitchFamily="34" charset="0"/>
                <a:cs typeface="Arial" panose="020B0604020202020204" pitchFamily="34" charset="0"/>
              </a:rPr>
              <a:t> Insights</a:t>
            </a:r>
            <a:endParaRPr lang="en-US" altLang="en-US" sz="15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The 18–24 age group represents the largest identified audience segment.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A high percentage of unknown demographic data limits customer analysis.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Indonesia generates the highest revenue, making it a priority market.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Users are primarily interested in Technology and Finance, offering targeted marketing opportunities.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500">
                <a:latin typeface="Arial" panose="020B0604020202020204" pitchFamily="34" charset="0"/>
                <a:cs typeface="Arial" panose="020B0604020202020204" pitchFamily="34" charset="0"/>
              </a:rPr>
              <a:t> Improving demographic data collection can enable better audience segmentation and campaign performance.</a:t>
            </a:r>
            <a:endParaRPr lang="en-US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Acquisition Dashboard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4260" y="1080135"/>
            <a:ext cx="9942830" cy="56889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04165"/>
            <a:ext cx="10800080" cy="587121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KPI Overview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Total Users: 62.3K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Total Revenue: 5.07K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Top Revenue Channel: Organic Search (2.81K)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Highest User Acquisition: Direct (49.1K Users)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Top Performing Channels: Organic Search, Direct &amp; Paid Search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Organic Search generates the highest revenue, highlighting the value of SEO.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Direct traffic brings the most users but has lower revenue per user.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Paid Search contributes steady revenue despite a smaller audience.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700">
                <a:latin typeface="Arial" panose="020B0604020202020204" pitchFamily="34" charset="0"/>
                <a:cs typeface="Arial" panose="020B0604020202020204" pitchFamily="34" charset="0"/>
              </a:rPr>
              <a:t> Referral traffic has growth potential with optimization efforts.</a:t>
            </a:r>
            <a:endParaRPr lang="en-US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Landing Pages &amp; Event</a:t>
            </a:r>
            <a:r>
              <a:rPr lang="en-US" altLang="en-US"/>
              <a:t>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24890" y="1118235"/>
            <a:ext cx="10142220" cy="57016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38150" y="229235"/>
            <a:ext cx="11057890" cy="594614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KPI Overview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Total Revenue: 5.07K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Total Event Count: 576.48K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Total Users: 383.76K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Top Landing Page: /search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Most Frequent Event: page_view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  <a:r>
              <a:rPr lang="en-GB" altLang="en-US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The /search landing page generates the highest revenue and traffic.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Page View is the most common event, indicating strong user activity.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High session_start and first_visit events reflect strong user acquisition.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A large gap between Add to Cart and Purchase suggests checkout optimization opportunities.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My Recommendations: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Focus on Organic Search and high-performing channels to maximize ROI.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Target high-intent audiences with personalized campaigns to increase conversions.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Optimize the checkout process to reduce cart abandonment and improve purchases.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Improve top landing pages with better CTAs and user experience.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Use demographic and behavioral insights to deliver personalized marketing campai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gn.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8976049" y="4321810"/>
            <a:ext cx="2177091" cy="486566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13" name="标题 5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5059680" y="2042795"/>
            <a:ext cx="6155055" cy="2093595"/>
          </a:xfrm>
        </p:spPr>
        <p:txBody>
          <a:bodyPr/>
          <a:lstStyle/>
          <a:p>
            <a:r>
              <a:rPr lang="en-US">
                <a:ea typeface="+mj-ea"/>
              </a:rPr>
              <a:t>THANK YOU</a:t>
            </a:r>
            <a:endParaRPr lang="en-US">
              <a:ea typeface="+mj-ea"/>
            </a:endParaRPr>
          </a:p>
        </p:txBody>
      </p:sp>
    </p:spTree>
    <p:custDataLst>
      <p:tags r:id="rId3"/>
    </p:custDataLst>
  </p:cSld>
  <p:clrMapOvr>
    <a:masterClrMapping/>
  </p:clrMapOvr>
  <p:transition advClick="0" advTm="0">
    <p:newsflash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21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21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21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1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  <p:tag name="KSO_WM_SLIDE_THEME_ID" val="3302786"/>
  <p:tag name="KSO_WM_SLIDE_THEME_NAME" val="Blue Chinoiserie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2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BEAUTIFY_FLAG" val="#wm#"/>
  <p:tag name="KSO_WM_TEMPLATE_CATEGORY" val="custom"/>
  <p:tag name="KSO_WM_TEMPLATE_INDEX" val="20237979"/>
</p:tagLst>
</file>

<file path=ppt/tags/tag241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79_11*f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Name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79_11*a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THANK YOU"/>
</p:tagLst>
</file>

<file path=ppt/tags/tag243.xml><?xml version="1.0" encoding="utf-8"?>
<p:tagLst xmlns:p="http://schemas.openxmlformats.org/presentationml/2006/main">
  <p:tag name="KSO_WM_SPECIAL_SOURCE" val="bdnull"/>
  <p:tag name="KSO_WM_SLIDE_CONTENT_AREA" val="{&quot;left&quot;:&quot;462.85&quot;,&quot;top&quot;:&quot;118.75&quot;,&quot;width&quot;:&quot;459.25&quot;,&quot;height&quot;:&quot;265.1&quot;}"/>
  <p:tag name="KSO_WM_SLIDE_ID" val="custom20237979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7979"/>
  <p:tag name="KSO_WM_SLIDE_LAYOUT" val="a_f"/>
  <p:tag name="KSO_WM_SLIDE_LAYOUT_CNT" val="1_1"/>
  <p:tag name="KSO_WM_SLIDE_THEME_ID" val="3302786"/>
  <p:tag name="KSO_WM_SLIDE_THEME_NAME" val="Blue Chinoiserie"/>
</p:tagLst>
</file>

<file path=ppt/theme/theme1.xml><?xml version="1.0" encoding="utf-8"?>
<a:theme xmlns:a="http://schemas.openxmlformats.org/drawingml/2006/main" name="Office Theme">
  <a:themeElements>
    <a:clrScheme name="黑白">
      <a:dk1>
        <a:srgbClr val="000000"/>
      </a:dk1>
      <a:lt1>
        <a:srgbClr val="FFFFFF"/>
      </a:lt1>
      <a:dk2>
        <a:srgbClr val="DEDEDE"/>
      </a:dk2>
      <a:lt2>
        <a:srgbClr val="EDEDED"/>
      </a:lt2>
      <a:accent1>
        <a:srgbClr val="000000"/>
      </a:accent1>
      <a:accent2>
        <a:srgbClr val="1F1F1F"/>
      </a:accent2>
      <a:accent3>
        <a:srgbClr val="464646"/>
      </a:accent3>
      <a:accent4>
        <a:srgbClr val="666666"/>
      </a:accent4>
      <a:accent5>
        <a:srgbClr val="8C8C8C"/>
      </a:accent5>
      <a:accent6>
        <a:srgbClr val="ACACAC"/>
      </a:accent6>
      <a:hlink>
        <a:srgbClr val="658BD5"/>
      </a:hlink>
      <a:folHlink>
        <a:srgbClr val="9F67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lang="en-US" altLang="zh-CN" sz="6000" spc="100" dirty="0">
            <a:solidFill>
              <a:schemeClr val="bg1"/>
            </a:solidFill>
            <a:uFillTx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2736</Words>
  <Application>WPS Presentation</Application>
  <PresentationFormat>宽屏</PresentationFormat>
  <Paragraphs>84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Microsoft YaHei</vt:lpstr>
      <vt:lpstr>Wingdings</vt:lpstr>
      <vt:lpstr>Charis SIL</vt:lpstr>
      <vt:lpstr>Segoe Print</vt:lpstr>
      <vt:lpstr>Arial Unicode MS</vt:lpstr>
      <vt:lpstr>Crimson Text SemiBold</vt:lpstr>
      <vt:lpstr>Calibri</vt:lpstr>
      <vt:lpstr>Office Theme</vt:lpstr>
      <vt:lpstr>1_Office Theme</vt:lpstr>
      <vt:lpstr>PowerPoint 演示文稿</vt:lpstr>
      <vt:lpstr>Executive Dashboard</vt:lpstr>
      <vt:lpstr>PowerPoint 演示文稿</vt:lpstr>
      <vt:lpstr>Demographic Analysis</vt:lpstr>
      <vt:lpstr>PowerPoint 演示文稿</vt:lpstr>
      <vt:lpstr>Acquisition Dashboard</vt:lpstr>
      <vt:lpstr>PowerPoint 演示文稿</vt:lpstr>
      <vt:lpstr>Landing Pages &amp; Events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Sameem Akthar</cp:lastModifiedBy>
  <cp:revision>12</cp:revision>
  <dcterms:created xsi:type="dcterms:W3CDTF">2019-09-18T08:56:00Z</dcterms:created>
  <dcterms:modified xsi:type="dcterms:W3CDTF">2026-07-08T05:56:58Z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0F4E1F1BE55C4A0AB56DFC72CB5F79F7_11</vt:lpwstr>
  </property>
</Properties>
</file>